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da2f3b0-0100-cf16-5e96-e00aea96bc9e}">
          <p14:sldIdLst>
            <p14:sldId id="256"/>
            <p14:sldId id="257"/>
          </p14:sldIdLst>
        </p14:section>
        <p14:section name="Build" id="{873922bb-6a0c-598c-b151-d2b55b270046}">
          <p14:sldIdLst>
            <p14:sldId id="258"/>
            <p14:sldId id="259"/>
          </p14:sldIdLst>
        </p14:section>
        <p14:section name="Prove" id="{f588af3c-bfd3-2eed-db77-0b0d1ad1800a}">
          <p14:sldIdLst>
            <p14:sldId id="260"/>
          </p14:sldIdLst>
        </p14:section>
        <p14:section name="Protect" id="{7d8aaeea-36c3-4e0a-797c-679681be2e12}">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walkthrough. Domain: cattle ranch management for many ranches in one system. Story: design first, build in layers, measure before claiming speed, test the security, prove the backup restores.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F1-F9 functional, N1-N6 non-functional in docs/01_requirements.md. ER diagram is docs/er_diagram.png.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Redis was built and tested; MongoDB is a documented design and script that was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Flyway CLI could not be downloaded in the build sandbox. The files use Flyway naming; a stand-in runner applied them from an empty database. Run real Flyway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runs on one machine, so trust the ratio and the plan change (Seq Scan to Index Scan), not the exact milliseconds. Q4 and Q5 were already fast and left alone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item has an evidence file in docs/05_security_checklist.md. Known gaps listed there: sandbox trust authentication, placeholder passwords, RLS depends on the app setting the tenant honestly, no point-in-time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status: what was run, what was designed only, and the concrete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475488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Ndume Ranch capstone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Ndume Ranch: a multi-tenant cattle ranch database</a:t>
            </a: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lIns="0" tIns="0" rIns="0" bIns="0" rtlCol="0" anchor="t"/>
          <a:lstStyle/>
          <a:p>
            <a:pPr indent="0" marL="0">
              <a:buNone/>
            </a:pPr>
            <a:r>
              <a:rPr lang="en-US" sz="1800" dirty="0">
                <a:solidFill>
                  <a:schemeClr val="bg2"/>
                </a:solidFill>
              </a:rPr>
              <a:t>PostgreSQL + Redis, built in layers: design, migrations, performance proof, security, recovery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Many ranches, one database, no leaks</a:t>
            </a:r>
            <a:endParaRPr lang="en-US" sz="3200" dirty="0"/>
          </a:p>
        </p:txBody>
      </p:sp>
      <p:sp>
        <p:nvSpPr>
          <p:cNvPr id="3" name="stat0"/>
          <p:cNvSpPr/>
          <p:nvPr/>
        </p:nvSpPr>
        <p:spPr>
          <a:xfrm>
            <a:off x="548640" y="1325880"/>
            <a:ext cx="187452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548640" y="1463040"/>
            <a:ext cx="18745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3</a:t>
            </a:r>
            <a:endParaRPr lang="en-US" sz="3600" dirty="0"/>
          </a:p>
        </p:txBody>
      </p:sp>
      <p:sp>
        <p:nvSpPr>
          <p:cNvPr id="5" name="Text 3"/>
          <p:cNvSpPr txBox="1"/>
          <p:nvPr/>
        </p:nvSpPr>
        <p:spPr>
          <a:xfrm>
            <a:off x="548640" y="2194560"/>
            <a:ext cx="1874520" cy="365760"/>
          </a:xfrm>
          <a:prstGeom prst="rect">
            <a:avLst/>
          </a:prstGeom>
          <a:noFill/>
          <a:ln/>
        </p:spPr>
        <p:txBody>
          <a:bodyPr wrap="square" lIns="0" tIns="0" rIns="0" bIns="0" rtlCol="0" anchor="ctr"/>
          <a:lstStyle/>
          <a:p>
            <a:pPr algn="ctr" indent="0" marL="0">
              <a:buNone/>
            </a:pPr>
            <a:r>
              <a:rPr lang="en-US" sz="1400" dirty="0">
                <a:solidFill>
                  <a:schemeClr val="tx1"/>
                </a:solidFill>
              </a:rPr>
              <a:t>ranches (tenants)</a:t>
            </a:r>
            <a:endParaRPr lang="en-US" sz="1400" dirty="0"/>
          </a:p>
        </p:txBody>
      </p:sp>
      <p:sp>
        <p:nvSpPr>
          <p:cNvPr id="6" name="stat1"/>
          <p:cNvSpPr/>
          <p:nvPr/>
        </p:nvSpPr>
        <p:spPr>
          <a:xfrm>
            <a:off x="2606040" y="1325880"/>
            <a:ext cx="187452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2606040" y="1463040"/>
            <a:ext cx="18745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6,000</a:t>
            </a:r>
            <a:endParaRPr lang="en-US" sz="3600" dirty="0"/>
          </a:p>
        </p:txBody>
      </p:sp>
      <p:sp>
        <p:nvSpPr>
          <p:cNvPr id="8" name="Text 6"/>
          <p:cNvSpPr txBox="1"/>
          <p:nvPr/>
        </p:nvSpPr>
        <p:spPr>
          <a:xfrm>
            <a:off x="2606040" y="2194560"/>
            <a:ext cx="1874520" cy="365760"/>
          </a:xfrm>
          <a:prstGeom prst="rect">
            <a:avLst/>
          </a:prstGeom>
          <a:noFill/>
          <a:ln/>
        </p:spPr>
        <p:txBody>
          <a:bodyPr wrap="square" lIns="0" tIns="0" rIns="0" bIns="0" rtlCol="0" anchor="ctr"/>
          <a:lstStyle/>
          <a:p>
            <a:pPr algn="ctr" indent="0" marL="0">
              <a:buNone/>
            </a:pPr>
            <a:r>
              <a:rPr lang="en-US" sz="1400" dirty="0">
                <a:solidFill>
                  <a:schemeClr val="tx1"/>
                </a:solidFill>
              </a:rPr>
              <a:t>animals</a:t>
            </a:r>
            <a:endParaRPr lang="en-US" sz="1400" dirty="0"/>
          </a:p>
        </p:txBody>
      </p:sp>
      <p:sp>
        <p:nvSpPr>
          <p:cNvPr id="9" name="stat2"/>
          <p:cNvSpPr/>
          <p:nvPr/>
        </p:nvSpPr>
        <p:spPr>
          <a:xfrm>
            <a:off x="4663440" y="1325880"/>
            <a:ext cx="187452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4663440" y="1463040"/>
            <a:ext cx="18745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569,696</a:t>
            </a:r>
            <a:endParaRPr lang="en-US" sz="3600" dirty="0"/>
          </a:p>
        </p:txBody>
      </p:sp>
      <p:sp>
        <p:nvSpPr>
          <p:cNvPr id="11" name="Text 9"/>
          <p:cNvSpPr txBox="1"/>
          <p:nvPr/>
        </p:nvSpPr>
        <p:spPr>
          <a:xfrm>
            <a:off x="4663440" y="2194560"/>
            <a:ext cx="1874520" cy="365760"/>
          </a:xfrm>
          <a:prstGeom prst="rect">
            <a:avLst/>
          </a:prstGeom>
          <a:noFill/>
          <a:ln/>
        </p:spPr>
        <p:txBody>
          <a:bodyPr wrap="square" lIns="0" tIns="0" rIns="0" bIns="0" rtlCol="0" anchor="ctr"/>
          <a:lstStyle/>
          <a:p>
            <a:pPr algn="ctr" indent="0" marL="0">
              <a:buNone/>
            </a:pPr>
            <a:r>
              <a:rPr lang="en-US" sz="1400" dirty="0">
                <a:solidFill>
                  <a:schemeClr val="tx1"/>
                </a:solidFill>
              </a:rPr>
              <a:t>weigh-ins</a:t>
            </a:r>
            <a:endParaRPr lang="en-US" sz="1400" dirty="0"/>
          </a:p>
        </p:txBody>
      </p:sp>
      <p:sp>
        <p:nvSpPr>
          <p:cNvPr id="12" name="stat3"/>
          <p:cNvSpPr/>
          <p:nvPr/>
        </p:nvSpPr>
        <p:spPr>
          <a:xfrm>
            <a:off x="6720840" y="1325880"/>
            <a:ext cx="1874520" cy="13716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6720840" y="1463040"/>
            <a:ext cx="18745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7</a:t>
            </a:r>
            <a:endParaRPr lang="en-US" sz="3600" dirty="0"/>
          </a:p>
        </p:txBody>
      </p:sp>
      <p:sp>
        <p:nvSpPr>
          <p:cNvPr id="14" name="Text 12"/>
          <p:cNvSpPr txBox="1"/>
          <p:nvPr/>
        </p:nvSpPr>
        <p:spPr>
          <a:xfrm>
            <a:off x="6720840" y="2194560"/>
            <a:ext cx="1874520" cy="365760"/>
          </a:xfrm>
          <a:prstGeom prst="rect">
            <a:avLst/>
          </a:prstGeom>
          <a:noFill/>
          <a:ln/>
        </p:spPr>
        <p:txBody>
          <a:bodyPr wrap="square" lIns="0" tIns="0" rIns="0" bIns="0" rtlCol="0" anchor="ctr"/>
          <a:lstStyle/>
          <a:p>
            <a:pPr algn="ctr" indent="0" marL="0">
              <a:buNone/>
            </a:pPr>
            <a:r>
              <a:rPr lang="en-US" sz="1400" dirty="0">
                <a:solidFill>
                  <a:schemeClr val="tx1"/>
                </a:solidFill>
              </a:rPr>
              <a:t>migrations</a:t>
            </a:r>
            <a:endParaRPr lang="en-US" sz="1400" dirty="0"/>
          </a:p>
        </p:txBody>
      </p:sp>
      <p:sp>
        <p:nvSpPr>
          <p:cNvPr id="15" name="Text 13"/>
          <p:cNvSpPr txBox="1"/>
          <p:nvPr/>
        </p:nvSpPr>
        <p:spPr>
          <a:xfrm>
            <a:off x="548640" y="3017520"/>
            <a:ext cx="8046720" cy="13716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Owners, managers, vets and workers see different things.</a:t>
            </a:r>
            <a:endParaRPr lang="en-US" sz="1800" dirty="0"/>
          </a:p>
          <a:p>
            <a:pPr marL="342900" indent="-342900">
              <a:spcAft>
                <a:spcPts val="800"/>
              </a:spcAft>
              <a:buSzPct val="100000"/>
              <a:buChar char="•"/>
            </a:pPr>
            <a:r>
              <a:rPr lang="en-US" sz="1800" dirty="0">
                <a:solidFill>
                  <a:schemeClr val="tx1"/>
                </a:solidFill>
              </a:rPr>
              <a:t>Isolation is enforced by the database, not only by the app.</a:t>
            </a:r>
            <a:endParaRPr lang="en-US" sz="1800" dirty="0"/>
          </a:p>
          <a:p>
            <a:pPr marL="342900" indent="-342900">
              <a:spcAft>
                <a:spcPts val="800"/>
              </a:spcAft>
              <a:buSzPct val="100000"/>
              <a:buChar char="•"/>
            </a:pPr>
            <a:r>
              <a:rPr lang="en-US" sz="1800" dirty="0">
                <a:solidFill>
                  <a:schemeClr val="tx1"/>
                </a:solidFill>
              </a:rPr>
              <a:t>Dashboards must be fast at half a million weigh-ins.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PostgreSQL leads; other stores add speed</a:t>
            </a:r>
            <a:endParaRPr lang="en-US" sz="3200" dirty="0"/>
          </a:p>
        </p:txBody>
      </p:sp>
      <p:sp>
        <p:nvSpPr>
          <p:cNvPr id="3" name="app"/>
          <p:cNvSpPr/>
          <p:nvPr/>
        </p:nvSpPr>
        <p:spPr>
          <a:xfrm>
            <a:off x="548640" y="1463040"/>
            <a:ext cx="2194560" cy="1188720"/>
          </a:xfrm>
          <a:prstGeom prst="roundRect">
            <a:avLst>
              <a:gd name="adj" fmla="val 7692"/>
            </a:avLst>
          </a:prstGeom>
          <a:solidFill>
            <a:schemeClr val="accent5"/>
          </a:solidFill>
          <a:ln w="12700">
            <a:solidFill>
              <a:schemeClr val="accent5"/>
            </a:solidFill>
            <a:prstDash val="solid"/>
          </a:ln>
        </p:spPr>
      </p:sp>
      <p:sp>
        <p:nvSpPr>
          <p:cNvPr id="4" name="Text 2"/>
          <p:cNvSpPr txBox="1"/>
          <p:nvPr/>
        </p:nvSpPr>
        <p:spPr>
          <a:xfrm>
            <a:off x="685800" y="1463040"/>
            <a:ext cx="1920240" cy="1188720"/>
          </a:xfrm>
          <a:prstGeom prst="rect">
            <a:avLst/>
          </a:prstGeom>
          <a:noFill/>
          <a:ln/>
        </p:spPr>
        <p:txBody>
          <a:bodyPr wrap="square" lIns="0" tIns="0" rIns="0" bIns="0" rtlCol="0" anchor="ctr"/>
          <a:lstStyle/>
          <a:p>
            <a:pPr indent="0" marL="0">
              <a:buNone/>
            </a:pPr>
            <a:r>
              <a:rPr lang="en-US" sz="1800" b="1" dirty="0">
                <a:solidFill>
                  <a:schemeClr val="bg1"/>
                </a:solidFill>
              </a:rPr>
              <a:t>Application</a:t>
            </a:r>
            <a:endParaRPr lang="en-US" sz="1800" dirty="0"/>
          </a:p>
          <a:p>
            <a:pPr indent="0" marL="0">
              <a:buNone/>
            </a:pPr>
            <a:r>
              <a:rPr lang="en-US" sz="1400" dirty="0">
                <a:solidFill>
                  <a:schemeClr val="bg1"/>
                </a:solidFill>
              </a:rPr>
              <a:t>sets tenant per transaction</a:t>
            </a:r>
            <a:endParaRPr lang="en-US" sz="1800" dirty="0"/>
          </a:p>
        </p:txBody>
      </p:sp>
      <p:sp>
        <p:nvSpPr>
          <p:cNvPr id="5" name="pg"/>
          <p:cNvSpPr/>
          <p:nvPr/>
        </p:nvSpPr>
        <p:spPr>
          <a:xfrm>
            <a:off x="3474720" y="1188720"/>
            <a:ext cx="2377440" cy="1737360"/>
          </a:xfrm>
          <a:prstGeom prst="roundRect">
            <a:avLst>
              <a:gd name="adj" fmla="val 5263"/>
            </a:avLst>
          </a:prstGeom>
          <a:solidFill>
            <a:schemeClr val="accent1"/>
          </a:solidFill>
          <a:ln w="12700">
            <a:solidFill>
              <a:schemeClr val="accent1"/>
            </a:solidFill>
            <a:prstDash val="solid"/>
          </a:ln>
        </p:spPr>
      </p:sp>
      <p:sp>
        <p:nvSpPr>
          <p:cNvPr id="6" name="Text 4"/>
          <p:cNvSpPr txBox="1"/>
          <p:nvPr/>
        </p:nvSpPr>
        <p:spPr>
          <a:xfrm>
            <a:off x="3611880" y="1188720"/>
            <a:ext cx="2103120" cy="1737360"/>
          </a:xfrm>
          <a:prstGeom prst="rect">
            <a:avLst/>
          </a:prstGeom>
          <a:noFill/>
          <a:ln/>
        </p:spPr>
        <p:txBody>
          <a:bodyPr wrap="square" lIns="0" tIns="0" rIns="0" bIns="0" rtlCol="0" anchor="ctr"/>
          <a:lstStyle/>
          <a:p>
            <a:pPr indent="0" marL="0">
              <a:buNone/>
            </a:pPr>
            <a:r>
              <a:rPr lang="en-US" sz="1800" b="1" dirty="0">
                <a:solidFill>
                  <a:schemeClr val="bg1"/>
                </a:solidFill>
              </a:rPr>
              <a:t>PostgreSQL 16</a:t>
            </a:r>
            <a:endParaRPr lang="en-US" sz="1800" dirty="0"/>
          </a:p>
          <a:p>
            <a:pPr indent="0" marL="0">
              <a:buNone/>
            </a:pPr>
            <a:r>
              <a:rPr lang="en-US" sz="1400" dirty="0">
                <a:solidFill>
                  <a:schemeClr val="bg1"/>
                </a:solidFill>
              </a:rPr>
              <a:t>RLS, audit, 7 migrations</a:t>
            </a:r>
            <a:endParaRPr lang="en-US" sz="1800" dirty="0"/>
          </a:p>
        </p:txBody>
      </p:sp>
      <p:sp>
        <p:nvSpPr>
          <p:cNvPr id="7" name="redis"/>
          <p:cNvSpPr/>
          <p:nvPr/>
        </p:nvSpPr>
        <p:spPr>
          <a:xfrm>
            <a:off x="6583680" y="1188720"/>
            <a:ext cx="2011680" cy="777240"/>
          </a:xfrm>
          <a:prstGeom prst="roundRect">
            <a:avLst>
              <a:gd name="adj" fmla="val 11765"/>
            </a:avLst>
          </a:prstGeom>
          <a:solidFill>
            <a:schemeClr val="accent3"/>
          </a:solidFill>
          <a:ln w="12700">
            <a:solidFill>
              <a:schemeClr val="accent3"/>
            </a:solidFill>
            <a:prstDash val="solid"/>
          </a:ln>
        </p:spPr>
      </p:sp>
      <p:sp>
        <p:nvSpPr>
          <p:cNvPr id="8" name="Text 6"/>
          <p:cNvSpPr txBox="1"/>
          <p:nvPr/>
        </p:nvSpPr>
        <p:spPr>
          <a:xfrm>
            <a:off x="6720840" y="1188720"/>
            <a:ext cx="1737360" cy="777240"/>
          </a:xfrm>
          <a:prstGeom prst="rect">
            <a:avLst/>
          </a:prstGeom>
          <a:noFill/>
          <a:ln/>
        </p:spPr>
        <p:txBody>
          <a:bodyPr wrap="square" lIns="0" tIns="0" rIns="0" bIns="0" rtlCol="0" anchor="ctr"/>
          <a:lstStyle/>
          <a:p>
            <a:pPr indent="0" marL="0">
              <a:buNone/>
            </a:pPr>
            <a:r>
              <a:rPr lang="en-US" sz="1800" b="1" dirty="0">
                <a:solidFill>
                  <a:schemeClr val="tx1"/>
                </a:solidFill>
              </a:rPr>
              <a:t>Redis</a:t>
            </a:r>
            <a:endParaRPr lang="en-US" sz="1800" dirty="0"/>
          </a:p>
          <a:p>
            <a:pPr indent="0" marL="0">
              <a:buNone/>
            </a:pPr>
            <a:r>
              <a:rPr lang="en-US" sz="1400" dirty="0">
                <a:solidFill>
                  <a:schemeClr val="tx1"/>
                </a:solidFill>
              </a:rPr>
              <a:t>cache, sessions: built</a:t>
            </a:r>
            <a:endParaRPr lang="en-US" sz="1800" dirty="0"/>
          </a:p>
        </p:txBody>
      </p:sp>
      <p:sp>
        <p:nvSpPr>
          <p:cNvPr id="9" name="mongo"/>
          <p:cNvSpPr/>
          <p:nvPr/>
        </p:nvSpPr>
        <p:spPr>
          <a:xfrm>
            <a:off x="6583680" y="2148840"/>
            <a:ext cx="2011680" cy="777240"/>
          </a:xfrm>
          <a:prstGeom prst="roundRect">
            <a:avLst>
              <a:gd name="adj" fmla="val 11765"/>
            </a:avLst>
          </a:prstGeom>
          <a:solidFill>
            <a:schemeClr val="bg2"/>
          </a:solidFill>
          <a:ln w="12700">
            <a:solidFill>
              <a:schemeClr val="bg2"/>
            </a:solidFill>
            <a:prstDash val="solid"/>
          </a:ln>
        </p:spPr>
      </p:sp>
      <p:sp>
        <p:nvSpPr>
          <p:cNvPr id="10" name="Text 8"/>
          <p:cNvSpPr txBox="1"/>
          <p:nvPr/>
        </p:nvSpPr>
        <p:spPr>
          <a:xfrm>
            <a:off x="6720840" y="2148840"/>
            <a:ext cx="1737360" cy="777240"/>
          </a:xfrm>
          <a:prstGeom prst="rect">
            <a:avLst/>
          </a:prstGeom>
          <a:noFill/>
          <a:ln/>
        </p:spPr>
        <p:txBody>
          <a:bodyPr wrap="square" lIns="0" tIns="0" rIns="0" bIns="0" rtlCol="0" anchor="ctr"/>
          <a:lstStyle/>
          <a:p>
            <a:pPr indent="0" marL="0">
              <a:buNone/>
            </a:pPr>
            <a:r>
              <a:rPr lang="en-US" sz="1800" b="1" dirty="0">
                <a:solidFill>
                  <a:schemeClr val="tx1"/>
                </a:solidFill>
              </a:rPr>
              <a:t>MongoDB</a:t>
            </a:r>
            <a:endParaRPr lang="en-US" sz="1800" dirty="0"/>
          </a:p>
          <a:p>
            <a:pPr indent="0" marL="0">
              <a:buNone/>
            </a:pPr>
            <a:r>
              <a:rPr lang="en-US" sz="1400" dirty="0">
                <a:solidFill>
                  <a:schemeClr val="tx1"/>
                </a:solidFill>
              </a:rPr>
              <a:t>sensor data: design only</a:t>
            </a:r>
            <a:endParaRPr lang="en-US" sz="1800" dirty="0"/>
          </a:p>
        </p:txBody>
      </p:sp>
      <p:sp>
        <p:nvSpPr>
          <p:cNvPr id="11" name="arrow1"/>
          <p:cNvSpPr/>
          <p:nvPr/>
        </p:nvSpPr>
        <p:spPr>
          <a:xfrm>
            <a:off x="2743200" y="2057400"/>
            <a:ext cx="731520" cy="0"/>
          </a:xfrm>
          <a:prstGeom prst="line">
            <a:avLst/>
          </a:prstGeom>
          <a:noFill/>
          <a:ln w="25400">
            <a:solidFill>
              <a:schemeClr val="accent5"/>
            </a:solidFill>
            <a:prstDash val="solid"/>
            <a:tailEnd type="triangle"/>
          </a:ln>
        </p:spPr>
      </p:sp>
      <p:sp>
        <p:nvSpPr>
          <p:cNvPr id="12" name="arrow2"/>
          <p:cNvSpPr/>
          <p:nvPr/>
        </p:nvSpPr>
        <p:spPr>
          <a:xfrm>
            <a:off x="5852160" y="1572768"/>
            <a:ext cx="731520" cy="0"/>
          </a:xfrm>
          <a:prstGeom prst="line">
            <a:avLst/>
          </a:prstGeom>
          <a:noFill/>
          <a:ln w="25400">
            <a:solidFill>
              <a:schemeClr val="accent5"/>
            </a:solidFill>
            <a:prstDash val="solid"/>
            <a:tailEnd type="triangle"/>
          </a:ln>
        </p:spPr>
      </p:sp>
      <p:sp>
        <p:nvSpPr>
          <p:cNvPr id="13" name="Text 11"/>
          <p:cNvSpPr txBox="1"/>
          <p:nvPr/>
        </p:nvSpPr>
        <p:spPr>
          <a:xfrm>
            <a:off x="548640" y="3383280"/>
            <a:ext cx="8046720" cy="1097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Redis fits repeated reads that expire (dashboard cache, sessions, rate limits).</a:t>
            </a:r>
            <a:endParaRPr lang="en-US" sz="1600" dirty="0"/>
          </a:p>
          <a:p>
            <a:pPr marL="342900" indent="-342900">
              <a:spcAft>
                <a:spcPts val="600"/>
              </a:spcAft>
              <a:buSzPct val="100000"/>
              <a:buChar char="•"/>
            </a:pPr>
            <a:r>
              <a:rPr lang="en-US" sz="1600" dirty="0">
                <a:solidFill>
                  <a:schemeClr val="tx1"/>
                </a:solidFill>
              </a:rPr>
              <a:t>MongoDB fits high-volume, append-only collar readings. It was not run here: no server was available.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Seven migrations rebuild it from empty</a:t>
            </a:r>
            <a:endParaRPr lang="en-US" sz="3200" dirty="0"/>
          </a:p>
        </p:txBody>
      </p:sp>
      <p:sp>
        <p:nvSpPr>
          <p:cNvPr id="3" name="node0"/>
          <p:cNvSpPr/>
          <p:nvPr/>
        </p:nvSpPr>
        <p:spPr>
          <a:xfrm>
            <a:off x="777240" y="1371600"/>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777240"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V1</a:t>
            </a:r>
            <a:endParaRPr lang="en-US" sz="1600" dirty="0"/>
          </a:p>
        </p:txBody>
      </p:sp>
      <p:sp>
        <p:nvSpPr>
          <p:cNvPr id="5" name="Text 3"/>
          <p:cNvSpPr txBox="1"/>
          <p:nvPr/>
        </p:nvSpPr>
        <p:spPr>
          <a:xfrm>
            <a:off x="502920"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Core tables</a:t>
            </a:r>
            <a:endParaRPr lang="en-US" sz="1400" dirty="0"/>
          </a:p>
        </p:txBody>
      </p:sp>
      <p:sp>
        <p:nvSpPr>
          <p:cNvPr id="6" name="node1"/>
          <p:cNvSpPr/>
          <p:nvPr/>
        </p:nvSpPr>
        <p:spPr>
          <a:xfrm>
            <a:off x="1947672" y="1371600"/>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1947672"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V2</a:t>
            </a:r>
            <a:endParaRPr lang="en-US" sz="1600" dirty="0"/>
          </a:p>
        </p:txBody>
      </p:sp>
      <p:sp>
        <p:nvSpPr>
          <p:cNvPr id="8" name="Text 6"/>
          <p:cNvSpPr txBox="1"/>
          <p:nvPr/>
        </p:nvSpPr>
        <p:spPr>
          <a:xfrm>
            <a:off x="1673352"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Base indexes</a:t>
            </a:r>
            <a:endParaRPr lang="en-US" sz="1400" dirty="0"/>
          </a:p>
        </p:txBody>
      </p:sp>
      <p:sp>
        <p:nvSpPr>
          <p:cNvPr id="9" name="node2"/>
          <p:cNvSpPr/>
          <p:nvPr/>
        </p:nvSpPr>
        <p:spPr>
          <a:xfrm>
            <a:off x="3118104" y="137160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3118104"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V3</a:t>
            </a:r>
            <a:endParaRPr lang="en-US" sz="1600" dirty="0"/>
          </a:p>
        </p:txBody>
      </p:sp>
      <p:sp>
        <p:nvSpPr>
          <p:cNvPr id="11" name="Text 9"/>
          <p:cNvSpPr txBox="1"/>
          <p:nvPr/>
        </p:nvSpPr>
        <p:spPr>
          <a:xfrm>
            <a:off x="2843784"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Audit + triggers</a:t>
            </a:r>
            <a:endParaRPr lang="en-US" sz="1400" dirty="0"/>
          </a:p>
        </p:txBody>
      </p:sp>
      <p:sp>
        <p:nvSpPr>
          <p:cNvPr id="12" name="node3"/>
          <p:cNvSpPr/>
          <p:nvPr/>
        </p:nvSpPr>
        <p:spPr>
          <a:xfrm>
            <a:off x="4288536" y="137160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4288536"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V4</a:t>
            </a:r>
            <a:endParaRPr lang="en-US" sz="1600" dirty="0"/>
          </a:p>
        </p:txBody>
      </p:sp>
      <p:sp>
        <p:nvSpPr>
          <p:cNvPr id="14" name="Text 12"/>
          <p:cNvSpPr txBox="1"/>
          <p:nvPr/>
        </p:nvSpPr>
        <p:spPr>
          <a:xfrm>
            <a:off x="4014216"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Roles + RLS</a:t>
            </a:r>
            <a:endParaRPr lang="en-US" sz="1400" dirty="0"/>
          </a:p>
        </p:txBody>
      </p:sp>
      <p:sp>
        <p:nvSpPr>
          <p:cNvPr id="15" name="node4"/>
          <p:cNvSpPr/>
          <p:nvPr/>
        </p:nvSpPr>
        <p:spPr>
          <a:xfrm>
            <a:off x="5458968" y="137160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5458968"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V5</a:t>
            </a:r>
            <a:endParaRPr lang="en-US" sz="1600" dirty="0"/>
          </a:p>
        </p:txBody>
      </p:sp>
      <p:sp>
        <p:nvSpPr>
          <p:cNvPr id="17" name="Text 15"/>
          <p:cNvSpPr txBox="1"/>
          <p:nvPr/>
        </p:nvSpPr>
        <p:spPr>
          <a:xfrm>
            <a:off x="5184648"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Seed data</a:t>
            </a:r>
            <a:endParaRPr lang="en-US" sz="1400" dirty="0"/>
          </a:p>
        </p:txBody>
      </p:sp>
      <p:sp>
        <p:nvSpPr>
          <p:cNvPr id="18" name="node5"/>
          <p:cNvSpPr/>
          <p:nvPr/>
        </p:nvSpPr>
        <p:spPr>
          <a:xfrm>
            <a:off x="6629400" y="1371600"/>
            <a:ext cx="640080" cy="640080"/>
          </a:xfrm>
          <a:prstGeom prst="ellipse">
            <a:avLst/>
          </a:prstGeom>
          <a:solidFill>
            <a:schemeClr val="accent2"/>
          </a:solidFill>
          <a:ln w="12700">
            <a:solidFill>
              <a:schemeClr val="accent2"/>
            </a:solidFill>
            <a:prstDash val="solid"/>
          </a:ln>
        </p:spPr>
      </p:sp>
      <p:sp>
        <p:nvSpPr>
          <p:cNvPr id="19" name="Text 17"/>
          <p:cNvSpPr txBox="1"/>
          <p:nvPr/>
        </p:nvSpPr>
        <p:spPr>
          <a:xfrm>
            <a:off x="6629400"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V6</a:t>
            </a:r>
            <a:endParaRPr lang="en-US" sz="1600" dirty="0"/>
          </a:p>
        </p:txBody>
      </p:sp>
      <p:sp>
        <p:nvSpPr>
          <p:cNvPr id="20" name="Text 18"/>
          <p:cNvSpPr txBox="1"/>
          <p:nvPr/>
        </p:nvSpPr>
        <p:spPr>
          <a:xfrm>
            <a:off x="6355080"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Perf indexes</a:t>
            </a:r>
            <a:endParaRPr lang="en-US" sz="1400" dirty="0"/>
          </a:p>
        </p:txBody>
      </p:sp>
      <p:sp>
        <p:nvSpPr>
          <p:cNvPr id="21" name="node6"/>
          <p:cNvSpPr/>
          <p:nvPr/>
        </p:nvSpPr>
        <p:spPr>
          <a:xfrm>
            <a:off x="7799832" y="1371600"/>
            <a:ext cx="640080" cy="640080"/>
          </a:xfrm>
          <a:prstGeom prst="ellipse">
            <a:avLst/>
          </a:prstGeom>
          <a:solidFill>
            <a:schemeClr val="accent2"/>
          </a:solidFill>
          <a:ln w="12700">
            <a:solidFill>
              <a:schemeClr val="accent2"/>
            </a:solidFill>
            <a:prstDash val="solid"/>
          </a:ln>
        </p:spPr>
      </p:sp>
      <p:sp>
        <p:nvSpPr>
          <p:cNvPr id="22" name="Text 20"/>
          <p:cNvSpPr txBox="1"/>
          <p:nvPr/>
        </p:nvSpPr>
        <p:spPr>
          <a:xfrm>
            <a:off x="7799832" y="1371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V7</a:t>
            </a:r>
            <a:endParaRPr lang="en-US" sz="1600" dirty="0"/>
          </a:p>
        </p:txBody>
      </p:sp>
      <p:sp>
        <p:nvSpPr>
          <p:cNvPr id="23" name="Text 21"/>
          <p:cNvSpPr txBox="1"/>
          <p:nvPr/>
        </p:nvSpPr>
        <p:spPr>
          <a:xfrm>
            <a:off x="7525512" y="2103120"/>
            <a:ext cx="1188720" cy="548640"/>
          </a:xfrm>
          <a:prstGeom prst="rect">
            <a:avLst/>
          </a:prstGeom>
          <a:noFill/>
          <a:ln/>
        </p:spPr>
        <p:txBody>
          <a:bodyPr wrap="square" lIns="0" tIns="0" rIns="0" bIns="0" rtlCol="0" anchor="t"/>
          <a:lstStyle/>
          <a:p>
            <a:pPr algn="ctr" indent="0" marL="0">
              <a:buNone/>
            </a:pPr>
            <a:r>
              <a:rPr lang="en-US" sz="1400" dirty="0">
                <a:solidFill>
                  <a:schemeClr val="tx1"/>
                </a:solidFill>
              </a:rPr>
              <a:t>Tenant-safe FKs</a:t>
            </a:r>
            <a:endParaRPr lang="en-US" sz="1400" dirty="0"/>
          </a:p>
        </p:txBody>
      </p:sp>
      <p:sp>
        <p:nvSpPr>
          <p:cNvPr id="24" name="callout"/>
          <p:cNvSpPr/>
          <p:nvPr/>
        </p:nvSpPr>
        <p:spPr>
          <a:xfrm>
            <a:off x="548640" y="3017520"/>
            <a:ext cx="8046720" cy="1371600"/>
          </a:xfrm>
          <a:prstGeom prst="roundRect">
            <a:avLst>
              <a:gd name="adj" fmla="val 5333"/>
            </a:avLst>
          </a:prstGeom>
          <a:solidFill>
            <a:schemeClr val="bg2"/>
          </a:solidFill>
          <a:ln w="12700">
            <a:solidFill>
              <a:schemeClr val="bg2"/>
            </a:solidFill>
            <a:prstDash val="solid"/>
          </a:ln>
        </p:spPr>
      </p:sp>
      <p:sp>
        <p:nvSpPr>
          <p:cNvPr id="25" name="Text 23"/>
          <p:cNvSpPr txBox="1"/>
          <p:nvPr/>
        </p:nvSpPr>
        <p:spPr>
          <a:xfrm>
            <a:off x="777240" y="3108960"/>
            <a:ext cx="7589520" cy="1188720"/>
          </a:xfrm>
          <a:prstGeom prst="rect">
            <a:avLst/>
          </a:prstGeom>
          <a:noFill/>
          <a:ln/>
        </p:spPr>
        <p:txBody>
          <a:bodyPr wrap="square" lIns="0" tIns="0" rIns="0" bIns="0" rtlCol="0" anchor="ctr"/>
          <a:lstStyle/>
          <a:p>
            <a:pPr indent="0" marL="0">
              <a:buNone/>
            </a:pPr>
            <a:r>
              <a:rPr lang="en-US" sz="1600" b="1" dirty="0">
                <a:solidFill>
                  <a:schemeClr val="accent2"/>
                </a:solidFill>
              </a:rPr>
              <a:t>V6 and V7 came from testing, not planning. </a:t>
            </a:r>
            <a:pPr indent="0" marL="0">
              <a:buNone/>
            </a:pPr>
            <a:r>
              <a:rPr lang="en-US" sz="1600" dirty="0">
                <a:solidFill>
                  <a:schemeClr val="tx1"/>
                </a:solidFill>
              </a:rPr>
              <a:t>Measuring showed a 32-second query (V6). A security test showed one ranch could link its data to another ranch's animal (V7). Fixes are new migrations, never edits to old ones.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Measured: 32 seconds down to 11 ms</a:t>
            </a:r>
            <a:endParaRPr lang="en-US" sz="3200" dirty="0"/>
          </a:p>
        </p:txBody>
      </p:sp>
      <p:sp>
        <p:nvSpPr>
          <p:cNvPr id="3" name="opt0"/>
          <p:cNvSpPr/>
          <p:nvPr/>
        </p:nvSpPr>
        <p:spPr>
          <a:xfrm>
            <a:off x="548640" y="1280160"/>
            <a:ext cx="2560320" cy="1920240"/>
          </a:xfrm>
          <a:prstGeom prst="roundRect">
            <a:avLst>
              <a:gd name="adj" fmla="val 3810"/>
            </a:avLst>
          </a:prstGeom>
          <a:solidFill>
            <a:schemeClr val="bg2"/>
          </a:solidFill>
          <a:ln w="12700">
            <a:solidFill>
              <a:schemeClr val="bg2"/>
            </a:solidFill>
            <a:prstDash val="solid"/>
          </a:ln>
        </p:spPr>
      </p:sp>
      <p:sp>
        <p:nvSpPr>
          <p:cNvPr id="4" name="Text 2"/>
          <p:cNvSpPr txBox="1"/>
          <p:nvPr/>
        </p:nvSpPr>
        <p:spPr>
          <a:xfrm>
            <a:off x="548640" y="1371600"/>
            <a:ext cx="2560320" cy="365760"/>
          </a:xfrm>
          <a:prstGeom prst="rect">
            <a:avLst/>
          </a:prstGeom>
          <a:noFill/>
          <a:ln/>
        </p:spPr>
        <p:txBody>
          <a:bodyPr wrap="square" lIns="0" tIns="0" rIns="0" bIns="0" rtlCol="0" anchor="ctr"/>
          <a:lstStyle/>
          <a:p>
            <a:pPr algn="ctr" indent="0" marL="0">
              <a:buNone/>
            </a:pPr>
            <a:r>
              <a:rPr lang="en-US" sz="1600" b="1" dirty="0">
                <a:solidFill>
                  <a:schemeClr val="tx2"/>
                </a:solidFill>
              </a:rPr>
              <a:t>Q1 herd by breed</a:t>
            </a:r>
            <a:endParaRPr lang="en-US" sz="1600" dirty="0"/>
          </a:p>
        </p:txBody>
      </p:sp>
      <p:sp>
        <p:nvSpPr>
          <p:cNvPr id="5" name="Text 3"/>
          <p:cNvSpPr txBox="1"/>
          <p:nvPr/>
        </p:nvSpPr>
        <p:spPr>
          <a:xfrm>
            <a:off x="548640" y="1783080"/>
            <a:ext cx="2560320" cy="365760"/>
          </a:xfrm>
          <a:prstGeom prst="rect">
            <a:avLst/>
          </a:prstGeom>
          <a:noFill/>
          <a:ln/>
        </p:spPr>
        <p:txBody>
          <a:bodyPr wrap="square" lIns="0" tIns="0" rIns="0" bIns="0" rtlCol="0" anchor="ctr"/>
          <a:lstStyle/>
          <a:p>
            <a:pPr algn="ctr" indent="0" marL="0">
              <a:buNone/>
            </a:pPr>
            <a:r>
              <a:rPr lang="en-US" sz="1600" dirty="0">
                <a:solidFill>
                  <a:schemeClr val="accent5"/>
                </a:solidFill>
              </a:rPr>
              <a:t>before 32.3 s</a:t>
            </a:r>
            <a:endParaRPr lang="en-US" sz="1600" dirty="0"/>
          </a:p>
        </p:txBody>
      </p:sp>
      <p:sp>
        <p:nvSpPr>
          <p:cNvPr id="6" name="Text 4"/>
          <p:cNvSpPr txBox="1"/>
          <p:nvPr/>
        </p:nvSpPr>
        <p:spPr>
          <a:xfrm>
            <a:off x="548640" y="2194560"/>
            <a:ext cx="25603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10.9 ms</a:t>
            </a:r>
            <a:endParaRPr lang="en-US" sz="3600" dirty="0"/>
          </a:p>
        </p:txBody>
      </p:sp>
      <p:sp>
        <p:nvSpPr>
          <p:cNvPr id="7" name="opt1"/>
          <p:cNvSpPr/>
          <p:nvPr/>
        </p:nvSpPr>
        <p:spPr>
          <a:xfrm>
            <a:off x="3291840" y="1280160"/>
            <a:ext cx="2560320" cy="1920240"/>
          </a:xfrm>
          <a:prstGeom prst="roundRect">
            <a:avLst>
              <a:gd name="adj" fmla="val 3810"/>
            </a:avLst>
          </a:prstGeom>
          <a:solidFill>
            <a:schemeClr val="bg2"/>
          </a:solidFill>
          <a:ln w="12700">
            <a:solidFill>
              <a:schemeClr val="bg2"/>
            </a:solidFill>
            <a:prstDash val="solid"/>
          </a:ln>
        </p:spPr>
      </p:sp>
      <p:sp>
        <p:nvSpPr>
          <p:cNvPr id="8" name="Text 6"/>
          <p:cNvSpPr txBox="1"/>
          <p:nvPr/>
        </p:nvSpPr>
        <p:spPr>
          <a:xfrm>
            <a:off x="3291840" y="1371600"/>
            <a:ext cx="2560320" cy="365760"/>
          </a:xfrm>
          <a:prstGeom prst="rect">
            <a:avLst/>
          </a:prstGeom>
          <a:noFill/>
          <a:ln/>
        </p:spPr>
        <p:txBody>
          <a:bodyPr wrap="square" lIns="0" tIns="0" rIns="0" bIns="0" rtlCol="0" anchor="ctr"/>
          <a:lstStyle/>
          <a:p>
            <a:pPr algn="ctr" indent="0" marL="0">
              <a:buNone/>
            </a:pPr>
            <a:r>
              <a:rPr lang="en-US" sz="1600" b="1" dirty="0">
                <a:solidFill>
                  <a:schemeClr val="tx2"/>
                </a:solidFill>
              </a:rPr>
              <a:t>Q2 daily gain</a:t>
            </a:r>
            <a:endParaRPr lang="en-US" sz="1600" dirty="0"/>
          </a:p>
        </p:txBody>
      </p:sp>
      <p:sp>
        <p:nvSpPr>
          <p:cNvPr id="9" name="Text 7"/>
          <p:cNvSpPr txBox="1"/>
          <p:nvPr/>
        </p:nvSpPr>
        <p:spPr>
          <a:xfrm>
            <a:off x="3291840" y="1783080"/>
            <a:ext cx="2560320" cy="365760"/>
          </a:xfrm>
          <a:prstGeom prst="rect">
            <a:avLst/>
          </a:prstGeom>
          <a:noFill/>
          <a:ln/>
        </p:spPr>
        <p:txBody>
          <a:bodyPr wrap="square" lIns="0" tIns="0" rIns="0" bIns="0" rtlCol="0" anchor="ctr"/>
          <a:lstStyle/>
          <a:p>
            <a:pPr algn="ctr" indent="0" marL="0">
              <a:buNone/>
            </a:pPr>
            <a:r>
              <a:rPr lang="en-US" sz="1600" dirty="0">
                <a:solidFill>
                  <a:schemeClr val="accent5"/>
                </a:solidFill>
              </a:rPr>
              <a:t>before 35.4 s</a:t>
            </a:r>
            <a:endParaRPr lang="en-US" sz="1600" dirty="0"/>
          </a:p>
        </p:txBody>
      </p:sp>
      <p:sp>
        <p:nvSpPr>
          <p:cNvPr id="10" name="Text 8"/>
          <p:cNvSpPr txBox="1"/>
          <p:nvPr/>
        </p:nvSpPr>
        <p:spPr>
          <a:xfrm>
            <a:off x="3291840" y="2194560"/>
            <a:ext cx="25603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18.0 ms</a:t>
            </a:r>
            <a:endParaRPr lang="en-US" sz="3600" dirty="0"/>
          </a:p>
        </p:txBody>
      </p:sp>
      <p:sp>
        <p:nvSpPr>
          <p:cNvPr id="11" name="opt2"/>
          <p:cNvSpPr/>
          <p:nvPr/>
        </p:nvSpPr>
        <p:spPr>
          <a:xfrm>
            <a:off x="6035040" y="1280160"/>
            <a:ext cx="2560320" cy="1920240"/>
          </a:xfrm>
          <a:prstGeom prst="roundRect">
            <a:avLst>
              <a:gd name="adj" fmla="val 3810"/>
            </a:avLst>
          </a:prstGeom>
          <a:solidFill>
            <a:schemeClr val="bg2"/>
          </a:solidFill>
          <a:ln w="12700">
            <a:solidFill>
              <a:schemeClr val="bg2"/>
            </a:solidFill>
            <a:prstDash val="solid"/>
          </a:ln>
        </p:spPr>
      </p:sp>
      <p:sp>
        <p:nvSpPr>
          <p:cNvPr id="12" name="Text 10"/>
          <p:cNvSpPr txBox="1"/>
          <p:nvPr/>
        </p:nvSpPr>
        <p:spPr>
          <a:xfrm>
            <a:off x="6035040" y="1371600"/>
            <a:ext cx="2560320" cy="365760"/>
          </a:xfrm>
          <a:prstGeom prst="rect">
            <a:avLst/>
          </a:prstGeom>
          <a:noFill/>
          <a:ln/>
        </p:spPr>
        <p:txBody>
          <a:bodyPr wrap="square" lIns="0" tIns="0" rIns="0" bIns="0" rtlCol="0" anchor="ctr"/>
          <a:lstStyle/>
          <a:p>
            <a:pPr algn="ctr" indent="0" marL="0">
              <a:buNone/>
            </a:pPr>
            <a:r>
              <a:rPr lang="en-US" sz="1600" b="1" dirty="0">
                <a:solidFill>
                  <a:schemeClr val="tx2"/>
                </a:solidFill>
              </a:rPr>
              <a:t>Q3 overdue shots</a:t>
            </a:r>
            <a:endParaRPr lang="en-US" sz="1600" dirty="0"/>
          </a:p>
        </p:txBody>
      </p:sp>
      <p:sp>
        <p:nvSpPr>
          <p:cNvPr id="13" name="Text 11"/>
          <p:cNvSpPr txBox="1"/>
          <p:nvPr/>
        </p:nvSpPr>
        <p:spPr>
          <a:xfrm>
            <a:off x="6035040" y="1783080"/>
            <a:ext cx="2560320" cy="365760"/>
          </a:xfrm>
          <a:prstGeom prst="rect">
            <a:avLst/>
          </a:prstGeom>
          <a:noFill/>
          <a:ln/>
        </p:spPr>
        <p:txBody>
          <a:bodyPr wrap="square" lIns="0" tIns="0" rIns="0" bIns="0" rtlCol="0" anchor="ctr"/>
          <a:lstStyle/>
          <a:p>
            <a:pPr algn="ctr" indent="0" marL="0">
              <a:buNone/>
            </a:pPr>
            <a:r>
              <a:rPr lang="en-US" sz="1600" dirty="0">
                <a:solidFill>
                  <a:schemeClr val="accent5"/>
                </a:solidFill>
              </a:rPr>
              <a:t>before 10.5 ms</a:t>
            </a:r>
            <a:endParaRPr lang="en-US" sz="1600" dirty="0"/>
          </a:p>
        </p:txBody>
      </p:sp>
      <p:sp>
        <p:nvSpPr>
          <p:cNvPr id="14" name="Text 12"/>
          <p:cNvSpPr txBox="1"/>
          <p:nvPr/>
        </p:nvSpPr>
        <p:spPr>
          <a:xfrm>
            <a:off x="6035040" y="2194560"/>
            <a:ext cx="256032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0.8 ms</a:t>
            </a:r>
            <a:endParaRPr lang="en-US" sz="3600" dirty="0"/>
          </a:p>
        </p:txBody>
      </p:sp>
      <p:sp>
        <p:nvSpPr>
          <p:cNvPr id="15" name="Text 13"/>
          <p:cNvSpPr txBox="1"/>
          <p:nvPr/>
        </p:nvSpPr>
        <p:spPr>
          <a:xfrm>
            <a:off x="548640" y="3383280"/>
            <a:ext cx="8046720" cy="1188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Cause: a full table scan per animal. Fix: one composite index (animal, date).</a:t>
            </a:r>
            <a:endParaRPr lang="en-US" sz="1600" dirty="0"/>
          </a:p>
          <a:p>
            <a:pPr marL="342900" indent="-342900">
              <a:spcAft>
                <a:spcPts val="600"/>
              </a:spcAft>
              <a:buSzPct val="100000"/>
              <a:buChar char="•"/>
            </a:pPr>
            <a:r>
              <a:rPr lang="en-US" sz="1600" dirty="0">
                <a:solidFill>
                  <a:schemeClr val="tx1"/>
                </a:solidFill>
              </a:rPr>
              <a:t>Evidence: EXPLAIN ANALYZE before and after, saved in the evidence folder.</a:t>
            </a:r>
            <a:endParaRPr lang="en-US" sz="1600" dirty="0"/>
          </a:p>
          <a:p>
            <a:pPr marL="342900" indent="-342900">
              <a:spcAft>
                <a:spcPts val="600"/>
              </a:spcAft>
              <a:buSzPct val="100000"/>
              <a:buChar char="•"/>
            </a:pPr>
            <a:r>
              <a:rPr lang="en-US" sz="1600" dirty="0">
                <a:solidFill>
                  <a:schemeClr val="tx1"/>
                </a:solidFill>
              </a:rPr>
              <a:t>Redis would have hidden the slow query; the index fixed it.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Security checklist: four pass, two partial</a:t>
            </a:r>
            <a:endParaRPr lang="en-US" sz="3200" dirty="0"/>
          </a:p>
        </p:txBody>
      </p:sp>
      <p:sp>
        <p:nvSpPr>
          <p:cNvPr id="3" name="sec0"/>
          <p:cNvSpPr/>
          <p:nvPr/>
        </p:nvSpPr>
        <p:spPr>
          <a:xfrm>
            <a:off x="548640" y="1280160"/>
            <a:ext cx="3931920" cy="731520"/>
          </a:xfrm>
          <a:prstGeom prst="roundRect">
            <a:avLst>
              <a:gd name="adj" fmla="val 10000"/>
            </a:avLst>
          </a:prstGeom>
          <a:solidFill>
            <a:schemeClr val="bg2"/>
          </a:solidFill>
          <a:ln w="12700">
            <a:solidFill>
              <a:schemeClr val="bg2"/>
            </a:solidFill>
            <a:prstDash val="solid"/>
          </a:ln>
        </p:spPr>
      </p:sp>
      <p:sp>
        <p:nvSpPr>
          <p:cNvPr id="4" name="dot0"/>
          <p:cNvSpPr/>
          <p:nvPr/>
        </p:nvSpPr>
        <p:spPr>
          <a:xfrm>
            <a:off x="731520" y="1444752"/>
            <a:ext cx="402336" cy="402336"/>
          </a:xfrm>
          <a:prstGeom prst="ellipse">
            <a:avLst/>
          </a:prstGeom>
          <a:solidFill>
            <a:schemeClr val="accent3"/>
          </a:solidFill>
          <a:ln w="12700">
            <a:solidFill>
              <a:schemeClr val="accent3"/>
            </a:solidFill>
            <a:prstDash val="solid"/>
          </a:ln>
        </p:spPr>
      </p:sp>
      <p:sp>
        <p:nvSpPr>
          <p:cNvPr id="5" name="Text 3"/>
          <p:cNvSpPr txBox="1"/>
          <p:nvPr/>
        </p:nvSpPr>
        <p:spPr>
          <a:xfrm>
            <a:off x="731520" y="1444752"/>
            <a:ext cx="402336" cy="402336"/>
          </a:xfrm>
          <a:prstGeom prst="rect">
            <a:avLst/>
          </a:prstGeom>
          <a:noFill/>
          <a:ln/>
        </p:spPr>
        <p:txBody>
          <a:bodyPr wrap="square" lIns="0" tIns="0" rIns="0" bIns="0" rtlCol="0" anchor="ctr"/>
          <a:lstStyle/>
          <a:p>
            <a:pPr algn="ctr" indent="0" marL="0">
              <a:buNone/>
            </a:pPr>
            <a:r>
              <a:rPr lang="en-US" sz="1400" b="1" dirty="0">
                <a:solidFill>
                  <a:schemeClr val="tx1"/>
                </a:solidFill>
              </a:rPr>
              <a:t>P</a:t>
            </a:r>
            <a:endParaRPr lang="en-US" sz="1400" dirty="0"/>
          </a:p>
        </p:txBody>
      </p:sp>
      <p:sp>
        <p:nvSpPr>
          <p:cNvPr id="6" name="Text 4"/>
          <p:cNvSpPr txBox="1"/>
          <p:nvPr/>
        </p:nvSpPr>
        <p:spPr>
          <a:xfrm>
            <a:off x="1280160" y="1280160"/>
            <a:ext cx="3108960" cy="731520"/>
          </a:xfrm>
          <a:prstGeom prst="rect">
            <a:avLst/>
          </a:prstGeom>
          <a:noFill/>
          <a:ln/>
        </p:spPr>
        <p:txBody>
          <a:bodyPr wrap="square" lIns="0" tIns="0" rIns="0" bIns="0" rtlCol="0" anchor="ctr"/>
          <a:lstStyle/>
          <a:p>
            <a:pPr indent="0" marL="0">
              <a:buNone/>
            </a:pPr>
            <a:r>
              <a:rPr lang="en-US" sz="1600" b="1" dirty="0">
                <a:solidFill>
                  <a:schemeClr val="tx1"/>
                </a:solidFill>
              </a:rPr>
              <a:t>Least-privilege roles</a:t>
            </a:r>
            <a:endParaRPr lang="en-US" sz="1600" dirty="0"/>
          </a:p>
          <a:p>
            <a:pPr indent="0" marL="0">
              <a:buNone/>
            </a:pPr>
            <a:r>
              <a:rPr lang="en-US" sz="1200" dirty="0">
                <a:solidFill>
                  <a:schemeClr val="tx2"/>
                </a:solidFill>
              </a:rPr>
              <a:t>PASS</a:t>
            </a:r>
            <a:endParaRPr lang="en-US" sz="1600" dirty="0"/>
          </a:p>
        </p:txBody>
      </p:sp>
      <p:sp>
        <p:nvSpPr>
          <p:cNvPr id="7" name="sec1"/>
          <p:cNvSpPr/>
          <p:nvPr/>
        </p:nvSpPr>
        <p:spPr>
          <a:xfrm>
            <a:off x="4663440" y="1280160"/>
            <a:ext cx="3931920" cy="731520"/>
          </a:xfrm>
          <a:prstGeom prst="roundRect">
            <a:avLst>
              <a:gd name="adj" fmla="val 10000"/>
            </a:avLst>
          </a:prstGeom>
          <a:solidFill>
            <a:schemeClr val="bg2"/>
          </a:solidFill>
          <a:ln w="12700">
            <a:solidFill>
              <a:schemeClr val="bg2"/>
            </a:solidFill>
            <a:prstDash val="solid"/>
          </a:ln>
        </p:spPr>
      </p:sp>
      <p:sp>
        <p:nvSpPr>
          <p:cNvPr id="8" name="dot1"/>
          <p:cNvSpPr/>
          <p:nvPr/>
        </p:nvSpPr>
        <p:spPr>
          <a:xfrm>
            <a:off x="4846320" y="1444752"/>
            <a:ext cx="402336" cy="402336"/>
          </a:xfrm>
          <a:prstGeom prst="ellipse">
            <a:avLst/>
          </a:prstGeom>
          <a:solidFill>
            <a:schemeClr val="accent3"/>
          </a:solidFill>
          <a:ln w="12700">
            <a:solidFill>
              <a:schemeClr val="accent3"/>
            </a:solidFill>
            <a:prstDash val="solid"/>
          </a:ln>
        </p:spPr>
      </p:sp>
      <p:sp>
        <p:nvSpPr>
          <p:cNvPr id="9" name="Text 7"/>
          <p:cNvSpPr txBox="1"/>
          <p:nvPr/>
        </p:nvSpPr>
        <p:spPr>
          <a:xfrm>
            <a:off x="4846320" y="1444752"/>
            <a:ext cx="402336" cy="402336"/>
          </a:xfrm>
          <a:prstGeom prst="rect">
            <a:avLst/>
          </a:prstGeom>
          <a:noFill/>
          <a:ln/>
        </p:spPr>
        <p:txBody>
          <a:bodyPr wrap="square" lIns="0" tIns="0" rIns="0" bIns="0" rtlCol="0" anchor="ctr"/>
          <a:lstStyle/>
          <a:p>
            <a:pPr algn="ctr" indent="0" marL="0">
              <a:buNone/>
            </a:pPr>
            <a:r>
              <a:rPr lang="en-US" sz="1400" b="1" dirty="0">
                <a:solidFill>
                  <a:schemeClr val="tx1"/>
                </a:solidFill>
              </a:rPr>
              <a:t>P</a:t>
            </a:r>
            <a:endParaRPr lang="en-US" sz="1400" dirty="0"/>
          </a:p>
        </p:txBody>
      </p:sp>
      <p:sp>
        <p:nvSpPr>
          <p:cNvPr id="10" name="Text 8"/>
          <p:cNvSpPr txBox="1"/>
          <p:nvPr/>
        </p:nvSpPr>
        <p:spPr>
          <a:xfrm>
            <a:off x="5394960" y="1280160"/>
            <a:ext cx="3108960" cy="731520"/>
          </a:xfrm>
          <a:prstGeom prst="rect">
            <a:avLst/>
          </a:prstGeom>
          <a:noFill/>
          <a:ln/>
        </p:spPr>
        <p:txBody>
          <a:bodyPr wrap="square" lIns="0" tIns="0" rIns="0" bIns="0" rtlCol="0" anchor="ctr"/>
          <a:lstStyle/>
          <a:p>
            <a:pPr indent="0" marL="0">
              <a:buNone/>
            </a:pPr>
            <a:r>
              <a:rPr lang="en-US" sz="1600" b="1" dirty="0">
                <a:solidFill>
                  <a:schemeClr val="tx1"/>
                </a:solidFill>
              </a:rPr>
              <a:t>RLS on all tenant tables</a:t>
            </a:r>
            <a:endParaRPr lang="en-US" sz="1600" dirty="0"/>
          </a:p>
          <a:p>
            <a:pPr indent="0" marL="0">
              <a:buNone/>
            </a:pPr>
            <a:r>
              <a:rPr lang="en-US" sz="1200" dirty="0">
                <a:solidFill>
                  <a:schemeClr val="tx2"/>
                </a:solidFill>
              </a:rPr>
              <a:t>PASS</a:t>
            </a:r>
            <a:endParaRPr lang="en-US" sz="1600" dirty="0"/>
          </a:p>
        </p:txBody>
      </p:sp>
      <p:sp>
        <p:nvSpPr>
          <p:cNvPr id="11" name="sec2"/>
          <p:cNvSpPr/>
          <p:nvPr/>
        </p:nvSpPr>
        <p:spPr>
          <a:xfrm>
            <a:off x="548640" y="2148840"/>
            <a:ext cx="3931920" cy="731520"/>
          </a:xfrm>
          <a:prstGeom prst="roundRect">
            <a:avLst>
              <a:gd name="adj" fmla="val 10000"/>
            </a:avLst>
          </a:prstGeom>
          <a:solidFill>
            <a:schemeClr val="bg2"/>
          </a:solidFill>
          <a:ln w="12700">
            <a:solidFill>
              <a:schemeClr val="bg2"/>
            </a:solidFill>
            <a:prstDash val="solid"/>
          </a:ln>
        </p:spPr>
      </p:sp>
      <p:sp>
        <p:nvSpPr>
          <p:cNvPr id="12" name="dot2"/>
          <p:cNvSpPr/>
          <p:nvPr/>
        </p:nvSpPr>
        <p:spPr>
          <a:xfrm>
            <a:off x="731520" y="2313432"/>
            <a:ext cx="402336" cy="402336"/>
          </a:xfrm>
          <a:prstGeom prst="ellipse">
            <a:avLst/>
          </a:prstGeom>
          <a:solidFill>
            <a:schemeClr val="accent3"/>
          </a:solidFill>
          <a:ln w="12700">
            <a:solidFill>
              <a:schemeClr val="accent3"/>
            </a:solidFill>
            <a:prstDash val="solid"/>
          </a:ln>
        </p:spPr>
      </p:sp>
      <p:sp>
        <p:nvSpPr>
          <p:cNvPr id="13" name="Text 11"/>
          <p:cNvSpPr txBox="1"/>
          <p:nvPr/>
        </p:nvSpPr>
        <p:spPr>
          <a:xfrm>
            <a:off x="731520" y="2313432"/>
            <a:ext cx="402336" cy="402336"/>
          </a:xfrm>
          <a:prstGeom prst="rect">
            <a:avLst/>
          </a:prstGeom>
          <a:noFill/>
          <a:ln/>
        </p:spPr>
        <p:txBody>
          <a:bodyPr wrap="square" lIns="0" tIns="0" rIns="0" bIns="0" rtlCol="0" anchor="ctr"/>
          <a:lstStyle/>
          <a:p>
            <a:pPr algn="ctr" indent="0" marL="0">
              <a:buNone/>
            </a:pPr>
            <a:r>
              <a:rPr lang="en-US" sz="1400" b="1" dirty="0">
                <a:solidFill>
                  <a:schemeClr val="tx1"/>
                </a:solidFill>
              </a:rPr>
              <a:t>P</a:t>
            </a:r>
            <a:endParaRPr lang="en-US" sz="1400" dirty="0"/>
          </a:p>
        </p:txBody>
      </p:sp>
      <p:sp>
        <p:nvSpPr>
          <p:cNvPr id="14" name="Text 12"/>
          <p:cNvSpPr txBox="1"/>
          <p:nvPr/>
        </p:nvSpPr>
        <p:spPr>
          <a:xfrm>
            <a:off x="1280160" y="2148840"/>
            <a:ext cx="3108960" cy="731520"/>
          </a:xfrm>
          <a:prstGeom prst="rect">
            <a:avLst/>
          </a:prstGeom>
          <a:noFill/>
          <a:ln/>
        </p:spPr>
        <p:txBody>
          <a:bodyPr wrap="square" lIns="0" tIns="0" rIns="0" bIns="0" rtlCol="0" anchor="ctr"/>
          <a:lstStyle/>
          <a:p>
            <a:pPr indent="0" marL="0">
              <a:buNone/>
            </a:pPr>
            <a:r>
              <a:rPr lang="en-US" sz="1600" b="1" dirty="0">
                <a:solidFill>
                  <a:schemeClr val="tx1"/>
                </a:solidFill>
              </a:rPr>
              <a:t>Audit log on critical tables</a:t>
            </a:r>
            <a:endParaRPr lang="en-US" sz="1600" dirty="0"/>
          </a:p>
          <a:p>
            <a:pPr indent="0" marL="0">
              <a:buNone/>
            </a:pPr>
            <a:r>
              <a:rPr lang="en-US" sz="1200" dirty="0">
                <a:solidFill>
                  <a:schemeClr val="tx2"/>
                </a:solidFill>
              </a:rPr>
              <a:t>PASS</a:t>
            </a:r>
            <a:endParaRPr lang="en-US" sz="1600" dirty="0"/>
          </a:p>
        </p:txBody>
      </p:sp>
      <p:sp>
        <p:nvSpPr>
          <p:cNvPr id="15" name="sec3"/>
          <p:cNvSpPr/>
          <p:nvPr/>
        </p:nvSpPr>
        <p:spPr>
          <a:xfrm>
            <a:off x="4663440" y="2148840"/>
            <a:ext cx="3931920" cy="731520"/>
          </a:xfrm>
          <a:prstGeom prst="roundRect">
            <a:avLst>
              <a:gd name="adj" fmla="val 10000"/>
            </a:avLst>
          </a:prstGeom>
          <a:solidFill>
            <a:schemeClr val="bg2"/>
          </a:solidFill>
          <a:ln w="12700">
            <a:solidFill>
              <a:schemeClr val="bg2"/>
            </a:solidFill>
            <a:prstDash val="solid"/>
          </a:ln>
        </p:spPr>
      </p:sp>
      <p:sp>
        <p:nvSpPr>
          <p:cNvPr id="16" name="dot3"/>
          <p:cNvSpPr/>
          <p:nvPr/>
        </p:nvSpPr>
        <p:spPr>
          <a:xfrm>
            <a:off x="4846320" y="2313432"/>
            <a:ext cx="402336" cy="402336"/>
          </a:xfrm>
          <a:prstGeom prst="ellipse">
            <a:avLst/>
          </a:prstGeom>
          <a:solidFill>
            <a:schemeClr val="accent3"/>
          </a:solidFill>
          <a:ln w="12700">
            <a:solidFill>
              <a:schemeClr val="accent3"/>
            </a:solidFill>
            <a:prstDash val="solid"/>
          </a:ln>
        </p:spPr>
      </p:sp>
      <p:sp>
        <p:nvSpPr>
          <p:cNvPr id="17" name="Text 15"/>
          <p:cNvSpPr txBox="1"/>
          <p:nvPr/>
        </p:nvSpPr>
        <p:spPr>
          <a:xfrm>
            <a:off x="4846320" y="2313432"/>
            <a:ext cx="402336" cy="402336"/>
          </a:xfrm>
          <a:prstGeom prst="rect">
            <a:avLst/>
          </a:prstGeom>
          <a:noFill/>
          <a:ln/>
        </p:spPr>
        <p:txBody>
          <a:bodyPr wrap="square" lIns="0" tIns="0" rIns="0" bIns="0" rtlCol="0" anchor="ctr"/>
          <a:lstStyle/>
          <a:p>
            <a:pPr algn="ctr" indent="0" marL="0">
              <a:buNone/>
            </a:pPr>
            <a:r>
              <a:rPr lang="en-US" sz="1400" b="1" dirty="0">
                <a:solidFill>
                  <a:schemeClr val="tx1"/>
                </a:solidFill>
              </a:rPr>
              <a:t>P</a:t>
            </a:r>
            <a:endParaRPr lang="en-US" sz="1400" dirty="0"/>
          </a:p>
        </p:txBody>
      </p:sp>
      <p:sp>
        <p:nvSpPr>
          <p:cNvPr id="18" name="Text 16"/>
          <p:cNvSpPr txBox="1"/>
          <p:nvPr/>
        </p:nvSpPr>
        <p:spPr>
          <a:xfrm>
            <a:off x="5394960" y="2148840"/>
            <a:ext cx="3108960" cy="731520"/>
          </a:xfrm>
          <a:prstGeom prst="rect">
            <a:avLst/>
          </a:prstGeom>
          <a:noFill/>
          <a:ln/>
        </p:spPr>
        <p:txBody>
          <a:bodyPr wrap="square" lIns="0" tIns="0" rIns="0" bIns="0" rtlCol="0" anchor="ctr"/>
          <a:lstStyle/>
          <a:p>
            <a:pPr indent="0" marL="0">
              <a:buNone/>
            </a:pPr>
            <a:r>
              <a:rPr lang="en-US" sz="1600" b="1" dirty="0">
                <a:solidFill>
                  <a:schemeClr val="tx1"/>
                </a:solidFill>
              </a:rPr>
              <a:t>Backup + test restore</a:t>
            </a:r>
            <a:endParaRPr lang="en-US" sz="1600" dirty="0"/>
          </a:p>
          <a:p>
            <a:pPr indent="0" marL="0">
              <a:buNone/>
            </a:pPr>
            <a:r>
              <a:rPr lang="en-US" sz="1200" dirty="0">
                <a:solidFill>
                  <a:schemeClr val="tx2"/>
                </a:solidFill>
              </a:rPr>
              <a:t>PASS</a:t>
            </a:r>
            <a:endParaRPr lang="en-US" sz="1600" dirty="0"/>
          </a:p>
        </p:txBody>
      </p:sp>
      <p:sp>
        <p:nvSpPr>
          <p:cNvPr id="19" name="sec4"/>
          <p:cNvSpPr/>
          <p:nvPr/>
        </p:nvSpPr>
        <p:spPr>
          <a:xfrm>
            <a:off x="548640" y="3017520"/>
            <a:ext cx="3931920" cy="731520"/>
          </a:xfrm>
          <a:prstGeom prst="roundRect">
            <a:avLst>
              <a:gd name="adj" fmla="val 10000"/>
            </a:avLst>
          </a:prstGeom>
          <a:solidFill>
            <a:schemeClr val="bg2"/>
          </a:solidFill>
          <a:ln w="12700">
            <a:solidFill>
              <a:schemeClr val="bg2"/>
            </a:solidFill>
            <a:prstDash val="solid"/>
          </a:ln>
        </p:spPr>
      </p:sp>
      <p:sp>
        <p:nvSpPr>
          <p:cNvPr id="20" name="dot4"/>
          <p:cNvSpPr/>
          <p:nvPr/>
        </p:nvSpPr>
        <p:spPr>
          <a:xfrm>
            <a:off x="731520" y="3182112"/>
            <a:ext cx="402336" cy="402336"/>
          </a:xfrm>
          <a:prstGeom prst="ellipse">
            <a:avLst/>
          </a:prstGeom>
          <a:solidFill>
            <a:schemeClr val="accent4"/>
          </a:solidFill>
          <a:ln w="12700">
            <a:solidFill>
              <a:schemeClr val="accent4"/>
            </a:solidFill>
            <a:prstDash val="solid"/>
          </a:ln>
        </p:spPr>
      </p:sp>
      <p:sp>
        <p:nvSpPr>
          <p:cNvPr id="21" name="Text 19"/>
          <p:cNvSpPr txBox="1"/>
          <p:nvPr/>
        </p:nvSpPr>
        <p:spPr>
          <a:xfrm>
            <a:off x="731520" y="3182112"/>
            <a:ext cx="402336" cy="402336"/>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22" name="Text 20"/>
          <p:cNvSpPr txBox="1"/>
          <p:nvPr/>
        </p:nvSpPr>
        <p:spPr>
          <a:xfrm>
            <a:off x="1280160" y="3017520"/>
            <a:ext cx="3108960" cy="731520"/>
          </a:xfrm>
          <a:prstGeom prst="rect">
            <a:avLst/>
          </a:prstGeom>
          <a:noFill/>
          <a:ln/>
        </p:spPr>
        <p:txBody>
          <a:bodyPr wrap="square" lIns="0" tIns="0" rIns="0" bIns="0" rtlCol="0" anchor="ctr"/>
          <a:lstStyle/>
          <a:p>
            <a:pPr indent="0" marL="0">
              <a:buNone/>
            </a:pPr>
            <a:r>
              <a:rPr lang="en-US" sz="1600" b="1" dirty="0">
                <a:solidFill>
                  <a:schemeClr val="tx1"/>
                </a:solidFill>
              </a:rPr>
              <a:t>Sensitive fields protected</a:t>
            </a:r>
            <a:endParaRPr lang="en-US" sz="1600" dirty="0"/>
          </a:p>
          <a:p>
            <a:pPr indent="0" marL="0">
              <a:buNone/>
            </a:pPr>
            <a:r>
              <a:rPr lang="en-US" sz="1200" dirty="0">
                <a:solidFill>
                  <a:schemeClr val="accent6"/>
                </a:solidFill>
              </a:rPr>
              <a:t>PARTIAL</a:t>
            </a:r>
            <a:endParaRPr lang="en-US" sz="1600" dirty="0"/>
          </a:p>
        </p:txBody>
      </p:sp>
      <p:sp>
        <p:nvSpPr>
          <p:cNvPr id="23" name="sec5"/>
          <p:cNvSpPr/>
          <p:nvPr/>
        </p:nvSpPr>
        <p:spPr>
          <a:xfrm>
            <a:off x="4663440" y="3017520"/>
            <a:ext cx="3931920" cy="731520"/>
          </a:xfrm>
          <a:prstGeom prst="roundRect">
            <a:avLst>
              <a:gd name="adj" fmla="val 10000"/>
            </a:avLst>
          </a:prstGeom>
          <a:solidFill>
            <a:schemeClr val="bg2"/>
          </a:solidFill>
          <a:ln w="12700">
            <a:solidFill>
              <a:schemeClr val="bg2"/>
            </a:solidFill>
            <a:prstDash val="solid"/>
          </a:ln>
        </p:spPr>
      </p:sp>
      <p:sp>
        <p:nvSpPr>
          <p:cNvPr id="24" name="dot5"/>
          <p:cNvSpPr/>
          <p:nvPr/>
        </p:nvSpPr>
        <p:spPr>
          <a:xfrm>
            <a:off x="4846320" y="3182112"/>
            <a:ext cx="402336" cy="402336"/>
          </a:xfrm>
          <a:prstGeom prst="ellipse">
            <a:avLst/>
          </a:prstGeom>
          <a:solidFill>
            <a:schemeClr val="accent4"/>
          </a:solidFill>
          <a:ln w="12700">
            <a:solidFill>
              <a:schemeClr val="accent4"/>
            </a:solidFill>
            <a:prstDash val="solid"/>
          </a:ln>
        </p:spPr>
      </p:sp>
      <p:sp>
        <p:nvSpPr>
          <p:cNvPr id="25" name="Text 23"/>
          <p:cNvSpPr txBox="1"/>
          <p:nvPr/>
        </p:nvSpPr>
        <p:spPr>
          <a:xfrm>
            <a:off x="4846320" y="3182112"/>
            <a:ext cx="402336" cy="402336"/>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26" name="Text 24"/>
          <p:cNvSpPr txBox="1"/>
          <p:nvPr/>
        </p:nvSpPr>
        <p:spPr>
          <a:xfrm>
            <a:off x="5394960" y="3017520"/>
            <a:ext cx="3108960" cy="731520"/>
          </a:xfrm>
          <a:prstGeom prst="rect">
            <a:avLst/>
          </a:prstGeom>
          <a:noFill/>
          <a:ln/>
        </p:spPr>
        <p:txBody>
          <a:bodyPr wrap="square" lIns="0" tIns="0" rIns="0" bIns="0" rtlCol="0" anchor="ctr"/>
          <a:lstStyle/>
          <a:p>
            <a:pPr indent="0" marL="0">
              <a:buNone/>
            </a:pPr>
            <a:r>
              <a:rPr lang="en-US" sz="1600" b="1" dirty="0">
                <a:solidFill>
                  <a:schemeClr val="tx1"/>
                </a:solidFill>
              </a:rPr>
              <a:t>Parameterized queries</a:t>
            </a:r>
            <a:endParaRPr lang="en-US" sz="1600" dirty="0"/>
          </a:p>
          <a:p>
            <a:pPr indent="0" marL="0">
              <a:buNone/>
            </a:pPr>
            <a:r>
              <a:rPr lang="en-US" sz="1200" dirty="0">
                <a:solidFill>
                  <a:schemeClr val="accent6"/>
                </a:solidFill>
              </a:rPr>
              <a:t>PARTIAL</a:t>
            </a:r>
            <a:endParaRPr lang="en-US" sz="1600" dirty="0"/>
          </a:p>
        </p:txBody>
      </p:sp>
      <p:sp>
        <p:nvSpPr>
          <p:cNvPr id="27" name="Text 25"/>
          <p:cNvSpPr txBox="1"/>
          <p:nvPr/>
        </p:nvSpPr>
        <p:spPr>
          <a:xfrm>
            <a:off x="548640" y="3977640"/>
            <a:ext cx="8046720" cy="548640"/>
          </a:xfrm>
          <a:prstGeom prst="rect">
            <a:avLst/>
          </a:prstGeom>
          <a:noFill/>
          <a:ln/>
        </p:spPr>
        <p:txBody>
          <a:bodyPr wrap="square" lIns="0" tIns="0" rIns="0" bIns="0" rtlCol="0" anchor="t"/>
          <a:lstStyle/>
          <a:p>
            <a:pPr indent="0" marL="0">
              <a:buNone/>
            </a:pPr>
            <a:r>
              <a:rPr lang="en-US" sz="1400" dirty="0">
                <a:solidFill>
                  <a:schemeClr val="accent5"/>
                </a:solidFill>
              </a:rPr>
              <a:t>Partial: the encryption key in the seed file is a demo key; no application code was written to prove parameterized queries.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What I would do next</a:t>
            </a: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2"/>
                </a:solidFill>
              </a:rPr>
              <a:t>Run real Flyway and the MongoDB script, then record the results</a:t>
            </a:r>
            <a:endParaRPr lang="en-US" sz="1800" dirty="0"/>
          </a:p>
          <a:p>
            <a:pPr marL="342900" indent="-342900">
              <a:spcAft>
                <a:spcPts val="800"/>
              </a:spcAft>
              <a:buSzPct val="100000"/>
              <a:buChar char="•"/>
            </a:pPr>
            <a:r>
              <a:rPr lang="en-US" sz="1800" dirty="0">
                <a:solidFill>
                  <a:schemeClr val="bg2"/>
                </a:solidFill>
              </a:rPr>
              <a:t>Move secrets out of the migrations; add TLS and a non-superuser owner role</a:t>
            </a:r>
            <a:endParaRPr lang="en-US" sz="1800" dirty="0"/>
          </a:p>
          <a:p>
            <a:pPr marL="342900" indent="-342900">
              <a:spcAft>
                <a:spcPts val="800"/>
              </a:spcAft>
              <a:buSzPct val="100000"/>
              <a:buChar char="•"/>
            </a:pPr>
            <a:r>
              <a:rPr lang="en-US" sz="1800" dirty="0">
                <a:solidFill>
                  <a:schemeClr val="bg2"/>
                </a:solidFill>
              </a:rPr>
              <a:t>Add WAL archiving for point-in-time recovery and an offsite encrypted backup</a:t>
            </a:r>
            <a:endParaRPr lang="en-US" sz="1800" dirty="0"/>
          </a:p>
        </p:txBody>
      </p:sp>
    </p:spTree>
  </p:cSld>
  <p:clrMapOvr>
    <a:masterClrMapping/>
  </p:clrMapOvr>
</p:sld>
</file>

<file path=ppt/theme/theme1.xml><?xml version="1.0" encoding="utf-8"?>
<a:theme xmlns:a="http://schemas.openxmlformats.org/drawingml/2006/main" name="Ndume Ranch">
  <a:themeElements>
    <a:clrScheme name="Ndume Ranch">
      <a:dk1>
        <a:srgbClr val="1B2A21"/>
      </a:dk1>
      <a:lt1>
        <a:srgbClr val="FFFFFF"/>
      </a:lt1>
      <a:dk2>
        <a:srgbClr val="2F4F3A"/>
      </a:dk2>
      <a:lt2>
        <a:srgbClr val="EEF2EC"/>
      </a:lt2>
      <a:accent1>
        <a:srgbClr val="2F4F3A"/>
      </a:accent1>
      <a:accent2>
        <a:srgbClr val="C8553D"/>
      </a:accent2>
      <a:accent3>
        <a:srgbClr val="7A9A6B"/>
      </a:accent3>
      <a:accent4>
        <a:srgbClr val="D9A441"/>
      </a:accent4>
      <a:accent5>
        <a:srgbClr val="5B6F63"/>
      </a:accent5>
      <a:accent6>
        <a:srgbClr val="A33B2A"/>
      </a:accent6>
      <a:hlink>
        <a:srgbClr val="2F4F3A"/>
      </a:hlink>
      <a:folHlink>
        <a:srgbClr val="5B6F63"/>
      </a:folHlink>
    </a:clrScheme>
    <a:fontScheme name="Ndume Ran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Ndume Ranch Capstone</dc:title>
  <dc:subject>PptxGenJS Presentation</dc:subject>
  <dc:creator>Elim Benjamin</dc:creator>
  <cp:lastModifiedBy>Elim Benjamin</cp:lastModifiedBy>
  <cp:revision>1</cp:revision>
  <dcterms:created xsi:type="dcterms:W3CDTF">2026-10-06T05:35:52Z</dcterms:created>
  <dcterms:modified xsi:type="dcterms:W3CDTF">2026-10-06T05:35:52Z</dcterms:modified>
</cp:coreProperties>
</file>